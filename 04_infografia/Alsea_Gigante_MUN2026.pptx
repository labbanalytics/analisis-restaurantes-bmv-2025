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0287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C2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16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1525" y="1683545"/>
            <a:ext cx="8743950" cy="3581400"/>
          </a:xfrm>
        </p:spPr>
        <p:txBody>
          <a:bodyPr anchor="b"/>
          <a:lstStyle>
            <a:lvl1pPr algn="ctr">
              <a:defRPr sz="675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5875" y="5403057"/>
            <a:ext cx="7715250" cy="2483643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350" indent="0" algn="ctr">
              <a:buNone/>
              <a:defRPr sz="2250"/>
            </a:lvl2pPr>
            <a:lvl3pPr marL="1028700" indent="0" algn="ctr">
              <a:buNone/>
              <a:defRPr sz="2025"/>
            </a:lvl3pPr>
            <a:lvl4pPr marL="1543050" indent="0" algn="ctr">
              <a:buNone/>
              <a:defRPr sz="1800"/>
            </a:lvl4pPr>
            <a:lvl5pPr marL="2057400" indent="0" algn="ctr">
              <a:buNone/>
              <a:defRPr sz="1800"/>
            </a:lvl5pPr>
            <a:lvl6pPr marL="2571750" indent="0" algn="ctr">
              <a:buNone/>
              <a:defRPr sz="1800"/>
            </a:lvl6pPr>
            <a:lvl7pPr marL="3086100" indent="0" algn="ctr">
              <a:buNone/>
              <a:defRPr sz="1800"/>
            </a:lvl7pPr>
            <a:lvl8pPr marL="3600450" indent="0" algn="ctr">
              <a:buNone/>
              <a:defRPr sz="1800"/>
            </a:lvl8pPr>
            <a:lvl9pPr marL="4114800" indent="0" algn="ctr">
              <a:buNone/>
              <a:defRPr sz="18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62E01-DC67-4931-86DC-D602EDF6C731}" type="datetimeFigureOut">
              <a:rPr lang="es-MX" smtClean="0"/>
              <a:t>21/03/2026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84145-DC28-4941-B8B6-D6B7EAAFE00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47764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62E01-DC67-4931-86DC-D602EDF6C731}" type="datetimeFigureOut">
              <a:rPr lang="es-MX" smtClean="0"/>
              <a:t>21/03/2026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84145-DC28-4941-B8B6-D6B7EAAFE00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56384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874" y="2564609"/>
            <a:ext cx="8872538" cy="4279106"/>
          </a:xfrm>
        </p:spPr>
        <p:txBody>
          <a:bodyPr anchor="b"/>
          <a:lstStyle>
            <a:lvl1pPr>
              <a:defRPr sz="675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1874" y="6884197"/>
            <a:ext cx="8872538" cy="2250281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/>
                </a:solidFill>
              </a:defRPr>
            </a:lvl1pPr>
            <a:lvl2pPr marL="514350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2pPr>
            <a:lvl3pPr marL="1028700" indent="0">
              <a:buNone/>
              <a:defRPr sz="2025">
                <a:solidFill>
                  <a:schemeClr val="tx1">
                    <a:tint val="75000"/>
                  </a:schemeClr>
                </a:solidFill>
              </a:defRPr>
            </a:lvl3pPr>
            <a:lvl4pPr marL="15430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17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61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6004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48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62E01-DC67-4931-86DC-D602EDF6C731}" type="datetimeFigureOut">
              <a:rPr lang="es-MX" smtClean="0"/>
              <a:t>21/03/2026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84145-DC28-4941-B8B6-D6B7EAAFE00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16300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7231" y="2738438"/>
            <a:ext cx="4371975" cy="65270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794" y="2738438"/>
            <a:ext cx="4371975" cy="65270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62E01-DC67-4931-86DC-D602EDF6C731}" type="datetimeFigureOut">
              <a:rPr lang="es-MX" smtClean="0"/>
              <a:t>21/03/2026</a:t>
            </a:fld>
            <a:endParaRPr lang="es-MX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84145-DC28-4941-B8B6-D6B7EAAFE00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57966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71" y="547690"/>
            <a:ext cx="8872538" cy="198834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8572" y="2521745"/>
            <a:ext cx="4351883" cy="1235868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8572" y="3757613"/>
            <a:ext cx="4351883" cy="552688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7794" y="2521745"/>
            <a:ext cx="4373315" cy="1235868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7794" y="3757613"/>
            <a:ext cx="4373315" cy="552688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62E01-DC67-4931-86DC-D602EDF6C731}" type="datetimeFigureOut">
              <a:rPr lang="es-MX" smtClean="0"/>
              <a:t>21/03/2026</a:t>
            </a:fld>
            <a:endParaRPr lang="es-MX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84145-DC28-4941-B8B6-D6B7EAAFE00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18436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62E01-DC67-4931-86DC-D602EDF6C731}" type="datetimeFigureOut">
              <a:rPr lang="es-MX" smtClean="0"/>
              <a:t>21/03/2026</a:t>
            </a:fld>
            <a:endParaRPr lang="es-MX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84145-DC28-4941-B8B6-D6B7EAAFE00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79020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62E01-DC67-4931-86DC-D602EDF6C731}" type="datetimeFigureOut">
              <a:rPr lang="es-MX" smtClean="0"/>
              <a:t>21/03/2026</a:t>
            </a:fld>
            <a:endParaRPr lang="es-MX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84145-DC28-4941-B8B6-D6B7EAAFE00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13245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71" y="685800"/>
            <a:ext cx="3317825" cy="24003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3315" y="1481140"/>
            <a:ext cx="5207794" cy="7310438"/>
          </a:xfrm>
        </p:spPr>
        <p:txBody>
          <a:bodyPr/>
          <a:lstStyle>
            <a:lvl1pPr>
              <a:defRPr sz="3600"/>
            </a:lvl1pPr>
            <a:lvl2pPr>
              <a:defRPr sz="3150"/>
            </a:lvl2pPr>
            <a:lvl3pPr>
              <a:defRPr sz="270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71" y="3086100"/>
            <a:ext cx="3317825" cy="5717382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575"/>
            </a:lvl2pPr>
            <a:lvl3pPr marL="1028700" indent="0">
              <a:buNone/>
              <a:defRPr sz="1350"/>
            </a:lvl3pPr>
            <a:lvl4pPr marL="1543050" indent="0">
              <a:buNone/>
              <a:defRPr sz="1125"/>
            </a:lvl4pPr>
            <a:lvl5pPr marL="2057400" indent="0">
              <a:buNone/>
              <a:defRPr sz="1125"/>
            </a:lvl5pPr>
            <a:lvl6pPr marL="2571750" indent="0">
              <a:buNone/>
              <a:defRPr sz="1125"/>
            </a:lvl6pPr>
            <a:lvl7pPr marL="3086100" indent="0">
              <a:buNone/>
              <a:defRPr sz="1125"/>
            </a:lvl7pPr>
            <a:lvl8pPr marL="3600450" indent="0">
              <a:buNone/>
              <a:defRPr sz="1125"/>
            </a:lvl8pPr>
            <a:lvl9pPr marL="4114800" indent="0">
              <a:buNone/>
              <a:defRPr sz="112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62E01-DC67-4931-86DC-D602EDF6C731}" type="datetimeFigureOut">
              <a:rPr lang="es-MX" smtClean="0"/>
              <a:t>21/03/2026</a:t>
            </a:fld>
            <a:endParaRPr lang="es-MX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84145-DC28-4941-B8B6-D6B7EAAFE00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08377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71" y="685800"/>
            <a:ext cx="3317825" cy="24003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73315" y="1481140"/>
            <a:ext cx="5207794" cy="7310438"/>
          </a:xfrm>
        </p:spPr>
        <p:txBody>
          <a:bodyPr anchor="t"/>
          <a:lstStyle>
            <a:lvl1pPr marL="0" indent="0">
              <a:buNone/>
              <a:defRPr sz="3600"/>
            </a:lvl1pPr>
            <a:lvl2pPr marL="514350" indent="0">
              <a:buNone/>
              <a:defRPr sz="3150"/>
            </a:lvl2pPr>
            <a:lvl3pPr marL="1028700" indent="0">
              <a:buNone/>
              <a:defRPr sz="2700"/>
            </a:lvl3pPr>
            <a:lvl4pPr marL="1543050" indent="0">
              <a:buNone/>
              <a:defRPr sz="2250"/>
            </a:lvl4pPr>
            <a:lvl5pPr marL="2057400" indent="0">
              <a:buNone/>
              <a:defRPr sz="2250"/>
            </a:lvl5pPr>
            <a:lvl6pPr marL="2571750" indent="0">
              <a:buNone/>
              <a:defRPr sz="2250"/>
            </a:lvl6pPr>
            <a:lvl7pPr marL="3086100" indent="0">
              <a:buNone/>
              <a:defRPr sz="2250"/>
            </a:lvl7pPr>
            <a:lvl8pPr marL="3600450" indent="0">
              <a:buNone/>
              <a:defRPr sz="2250"/>
            </a:lvl8pPr>
            <a:lvl9pPr marL="4114800" indent="0">
              <a:buNone/>
              <a:defRPr sz="225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71" y="3086100"/>
            <a:ext cx="3317825" cy="5717382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575"/>
            </a:lvl2pPr>
            <a:lvl3pPr marL="1028700" indent="0">
              <a:buNone/>
              <a:defRPr sz="1350"/>
            </a:lvl3pPr>
            <a:lvl4pPr marL="1543050" indent="0">
              <a:buNone/>
              <a:defRPr sz="1125"/>
            </a:lvl4pPr>
            <a:lvl5pPr marL="2057400" indent="0">
              <a:buNone/>
              <a:defRPr sz="1125"/>
            </a:lvl5pPr>
            <a:lvl6pPr marL="2571750" indent="0">
              <a:buNone/>
              <a:defRPr sz="1125"/>
            </a:lvl6pPr>
            <a:lvl7pPr marL="3086100" indent="0">
              <a:buNone/>
              <a:defRPr sz="1125"/>
            </a:lvl7pPr>
            <a:lvl8pPr marL="3600450" indent="0">
              <a:buNone/>
              <a:defRPr sz="1125"/>
            </a:lvl8pPr>
            <a:lvl9pPr marL="4114800" indent="0">
              <a:buNone/>
              <a:defRPr sz="112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62E01-DC67-4931-86DC-D602EDF6C731}" type="datetimeFigureOut">
              <a:rPr lang="es-MX" smtClean="0"/>
              <a:t>21/03/2026</a:t>
            </a:fld>
            <a:endParaRPr lang="es-MX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84145-DC28-4941-B8B6-D6B7EAAFE00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09676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62E01-DC67-4931-86DC-D602EDF6C731}" type="datetimeFigureOut">
              <a:rPr lang="es-MX" smtClean="0"/>
              <a:t>21/03/2026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84145-DC28-4941-B8B6-D6B7EAAFE00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21718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1635" y="547688"/>
            <a:ext cx="2218134" cy="871775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7232" y="547688"/>
            <a:ext cx="6525816" cy="871775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62E01-DC67-4931-86DC-D602EDF6C731}" type="datetimeFigureOut">
              <a:rPr lang="es-MX" smtClean="0"/>
              <a:t>21/03/2026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84145-DC28-4941-B8B6-D6B7EAAFE00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47225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7231" y="547690"/>
            <a:ext cx="8872538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231" y="2738438"/>
            <a:ext cx="8872538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7231" y="9534527"/>
            <a:ext cx="2314575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462E01-DC67-4931-86DC-D602EDF6C731}" type="datetimeFigureOut">
              <a:rPr lang="es-MX" smtClean="0"/>
              <a:t>21/03/2026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07569" y="9534527"/>
            <a:ext cx="3471863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65194" y="9534527"/>
            <a:ext cx="2314575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84145-DC28-4941-B8B6-D6B7EAAFE00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56772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28700" rtl="0" eaLnBrk="1" latinLnBrk="0" hangingPunct="1">
        <a:lnSpc>
          <a:spcPct val="90000"/>
        </a:lnSpc>
        <a:spcBef>
          <a:spcPct val="0"/>
        </a:spcBef>
        <a:buNone/>
        <a:defRPr sz="49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1028700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1pPr>
      <a:lvl2pPr marL="7715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58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8002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3145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8289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3432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8576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3719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5717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0861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B92BE5B-F66A-4D67-A274-28ECA7E90C2A}"/>
              </a:ext>
            </a:extLst>
          </p:cNvPr>
          <p:cNvSpPr txBox="1"/>
          <p:nvPr/>
        </p:nvSpPr>
        <p:spPr>
          <a:xfrm>
            <a:off x="0" y="110812"/>
            <a:ext cx="1028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latin typeface="Bahnschrift SemiBold" panose="020B0502040204020203" pitchFamily="34" charset="0"/>
              </a:rPr>
              <a:t>Diagnóstico Competitivo: Alsea vs Gigante Restaurantes (3T2025)</a:t>
            </a:r>
          </a:p>
        </p:txBody>
      </p:sp>
      <p:sp>
        <p:nvSpPr>
          <p:cNvPr id="7" name="Rectángulo: esquinas redondeadas 6" descr="VMT&#10;">
            <a:extLst>
              <a:ext uri="{FF2B5EF4-FFF2-40B4-BE49-F238E27FC236}">
                <a16:creationId xmlns:a16="http://schemas.microsoft.com/office/drawing/2014/main" id="{D191158A-1FE7-4FA0-B574-F8671A8EF1DA}"/>
              </a:ext>
            </a:extLst>
          </p:cNvPr>
          <p:cNvSpPr/>
          <p:nvPr/>
        </p:nvSpPr>
        <p:spPr>
          <a:xfrm>
            <a:off x="248704" y="791349"/>
            <a:ext cx="2045160" cy="106898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81AEAEA-43C5-4CE5-BAC6-77142EDC2DF6}"/>
              </a:ext>
            </a:extLst>
          </p:cNvPr>
          <p:cNvSpPr txBox="1"/>
          <p:nvPr/>
        </p:nvSpPr>
        <p:spPr>
          <a:xfrm>
            <a:off x="248140" y="791349"/>
            <a:ext cx="2045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VMT Alsea 3T25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FB4E168-F697-4838-8DE7-482C5B37B840}"/>
              </a:ext>
            </a:extLst>
          </p:cNvPr>
          <p:cNvSpPr txBox="1"/>
          <p:nvPr/>
        </p:nvSpPr>
        <p:spPr>
          <a:xfrm>
            <a:off x="356888" y="1102728"/>
            <a:ext cx="1844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dirty="0"/>
              <a:t>4.10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A7B3768-78CD-4796-ACD1-FD77487CAF70}"/>
              </a:ext>
            </a:extLst>
          </p:cNvPr>
          <p:cNvSpPr txBox="1"/>
          <p:nvPr/>
        </p:nvSpPr>
        <p:spPr>
          <a:xfrm>
            <a:off x="242428" y="1464906"/>
            <a:ext cx="2045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400" dirty="0"/>
              <a:t>% crecimiento YoY</a:t>
            </a:r>
          </a:p>
        </p:txBody>
      </p:sp>
      <p:sp>
        <p:nvSpPr>
          <p:cNvPr id="11" name="Rectángulo: esquinas redondeadas 10" descr="VMT&#10;">
            <a:extLst>
              <a:ext uri="{FF2B5EF4-FFF2-40B4-BE49-F238E27FC236}">
                <a16:creationId xmlns:a16="http://schemas.microsoft.com/office/drawing/2014/main" id="{8782DF10-D95E-48D9-B21E-7F9A6824DC2A}"/>
              </a:ext>
            </a:extLst>
          </p:cNvPr>
          <p:cNvSpPr/>
          <p:nvPr/>
        </p:nvSpPr>
        <p:spPr>
          <a:xfrm>
            <a:off x="242428" y="2116889"/>
            <a:ext cx="2045160" cy="1068984"/>
          </a:xfrm>
          <a:prstGeom prst="roundRect">
            <a:avLst/>
          </a:prstGeom>
          <a:solidFill>
            <a:srgbClr val="EAC2D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F7A590E-EBAB-42BE-8440-0E4BBD1DD33C}"/>
              </a:ext>
            </a:extLst>
          </p:cNvPr>
          <p:cNvSpPr txBox="1"/>
          <p:nvPr/>
        </p:nvSpPr>
        <p:spPr>
          <a:xfrm>
            <a:off x="236152" y="2183159"/>
            <a:ext cx="2045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VMT Gigante 3T25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3ED7159-F763-424B-8062-172AA52A6BBE}"/>
              </a:ext>
            </a:extLst>
          </p:cNvPr>
          <p:cNvSpPr txBox="1"/>
          <p:nvPr/>
        </p:nvSpPr>
        <p:spPr>
          <a:xfrm>
            <a:off x="350612" y="2402868"/>
            <a:ext cx="1844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dirty="0"/>
              <a:t>1.70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A3D7494-B272-424F-83DB-FD65027BC77D}"/>
              </a:ext>
            </a:extLst>
          </p:cNvPr>
          <p:cNvSpPr txBox="1"/>
          <p:nvPr/>
        </p:nvSpPr>
        <p:spPr>
          <a:xfrm>
            <a:off x="236152" y="2790446"/>
            <a:ext cx="2045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400" dirty="0"/>
              <a:t>% crecimiento YoY</a:t>
            </a:r>
          </a:p>
        </p:txBody>
      </p:sp>
      <p:sp>
        <p:nvSpPr>
          <p:cNvPr id="15" name="Rectángulo: esquinas redondeadas 14" descr="VMT&#10;">
            <a:extLst>
              <a:ext uri="{FF2B5EF4-FFF2-40B4-BE49-F238E27FC236}">
                <a16:creationId xmlns:a16="http://schemas.microsoft.com/office/drawing/2014/main" id="{6CD9D738-DEB6-49A9-8774-C8947F88C959}"/>
              </a:ext>
            </a:extLst>
          </p:cNvPr>
          <p:cNvSpPr/>
          <p:nvPr/>
        </p:nvSpPr>
        <p:spPr>
          <a:xfrm>
            <a:off x="236152" y="3453163"/>
            <a:ext cx="2045160" cy="106898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14E9267-CD09-4F7D-BB74-B4A8A0403229}"/>
              </a:ext>
            </a:extLst>
          </p:cNvPr>
          <p:cNvSpPr txBox="1"/>
          <p:nvPr/>
        </p:nvSpPr>
        <p:spPr>
          <a:xfrm>
            <a:off x="235588" y="3453163"/>
            <a:ext cx="2045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GAP Competitivo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0DA4D61-81BF-4F23-996B-D85ED74DB630}"/>
              </a:ext>
            </a:extLst>
          </p:cNvPr>
          <p:cNvSpPr txBox="1"/>
          <p:nvPr/>
        </p:nvSpPr>
        <p:spPr>
          <a:xfrm>
            <a:off x="344336" y="3751842"/>
            <a:ext cx="1844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dirty="0"/>
              <a:t>240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6A62BB9-09D9-4114-AB77-A3ECC34CB117}"/>
              </a:ext>
            </a:extLst>
          </p:cNvPr>
          <p:cNvSpPr txBox="1"/>
          <p:nvPr/>
        </p:nvSpPr>
        <p:spPr>
          <a:xfrm>
            <a:off x="229876" y="4152120"/>
            <a:ext cx="2045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400" dirty="0"/>
              <a:t>Basis points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B835E484-1C09-4184-A551-C3C292E19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566" y="826528"/>
            <a:ext cx="3296021" cy="3695619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0CA4DEE8-7AAD-423C-87ED-0DCE3908EEFC}"/>
              </a:ext>
            </a:extLst>
          </p:cNvPr>
          <p:cNvSpPr txBox="1"/>
          <p:nvPr/>
        </p:nvSpPr>
        <p:spPr>
          <a:xfrm>
            <a:off x="6438618" y="951740"/>
            <a:ext cx="3599678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1700" dirty="0"/>
              <a:t>*Gigante Restaurantes creció en ingresos +3.9% YoY pero su utilidad operativa cayó -12.3% en el mismo periodo.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s-ES" sz="17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1700" dirty="0"/>
              <a:t>*Alsea captura el 37.4% de sus ventas por canales digitales con programas de lealtad activos.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s-ES" sz="17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1700" dirty="0"/>
              <a:t>*Gigante no reporta métricas equivalentes. </a:t>
            </a:r>
            <a:r>
              <a:rPr lang="es-ES" sz="1700" b="1" dirty="0"/>
              <a:t>Esa ausencia de datos ya es un dato.</a:t>
            </a:r>
            <a:endParaRPr lang="es-MX" sz="1700" b="1" dirty="0"/>
          </a:p>
        </p:txBody>
      </p:sp>
      <p:sp>
        <p:nvSpPr>
          <p:cNvPr id="27" name="Rectángulo: esquinas redondeadas 26" descr="VMT&#10;">
            <a:extLst>
              <a:ext uri="{FF2B5EF4-FFF2-40B4-BE49-F238E27FC236}">
                <a16:creationId xmlns:a16="http://schemas.microsoft.com/office/drawing/2014/main" id="{C21904D1-6CA3-4A5E-BB28-3944DD61B39F}"/>
              </a:ext>
            </a:extLst>
          </p:cNvPr>
          <p:cNvSpPr/>
          <p:nvPr/>
        </p:nvSpPr>
        <p:spPr>
          <a:xfrm>
            <a:off x="242992" y="6871721"/>
            <a:ext cx="1902347" cy="824503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FBBDDB1C-CC95-463A-A9A1-90BFA894CBA0}"/>
              </a:ext>
            </a:extLst>
          </p:cNvPr>
          <p:cNvSpPr txBox="1"/>
          <p:nvPr/>
        </p:nvSpPr>
        <p:spPr>
          <a:xfrm>
            <a:off x="242428" y="6841623"/>
            <a:ext cx="1902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BPS Oportunidad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48D71C92-6082-4B2B-94F4-7D5300392B07}"/>
              </a:ext>
            </a:extLst>
          </p:cNvPr>
          <p:cNvSpPr txBox="1"/>
          <p:nvPr/>
        </p:nvSpPr>
        <p:spPr>
          <a:xfrm>
            <a:off x="276867" y="7062048"/>
            <a:ext cx="1715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dirty="0"/>
              <a:t>+250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7AAE195-8EB5-4F01-96A0-9ED7CFC27364}"/>
              </a:ext>
            </a:extLst>
          </p:cNvPr>
          <p:cNvSpPr txBox="1"/>
          <p:nvPr/>
        </p:nvSpPr>
        <p:spPr>
          <a:xfrm>
            <a:off x="242428" y="7458812"/>
            <a:ext cx="19023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/>
              <a:t>Sobre base actual 1.70%</a:t>
            </a:r>
          </a:p>
        </p:txBody>
      </p:sp>
      <p:sp>
        <p:nvSpPr>
          <p:cNvPr id="31" name="Rectángulo: esquinas redondeadas 30" descr="VMT&#10;">
            <a:extLst>
              <a:ext uri="{FF2B5EF4-FFF2-40B4-BE49-F238E27FC236}">
                <a16:creationId xmlns:a16="http://schemas.microsoft.com/office/drawing/2014/main" id="{A5CF1354-7F83-4073-BC78-C9AB15AC6875}"/>
              </a:ext>
            </a:extLst>
          </p:cNvPr>
          <p:cNvSpPr/>
          <p:nvPr/>
        </p:nvSpPr>
        <p:spPr>
          <a:xfrm>
            <a:off x="248663" y="8219776"/>
            <a:ext cx="1954928" cy="955129"/>
          </a:xfrm>
          <a:prstGeom prst="roundRect">
            <a:avLst/>
          </a:prstGeom>
          <a:solidFill>
            <a:srgbClr val="EAC2D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600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AB158906-D733-4E37-9247-C0AEE029A1AF}"/>
              </a:ext>
            </a:extLst>
          </p:cNvPr>
          <p:cNvSpPr txBox="1"/>
          <p:nvPr/>
        </p:nvSpPr>
        <p:spPr>
          <a:xfrm>
            <a:off x="248663" y="8245176"/>
            <a:ext cx="19543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GAP vs Alsea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15103144-DEF7-4928-A60A-2203AEB1257A}"/>
              </a:ext>
            </a:extLst>
          </p:cNvPr>
          <p:cNvSpPr txBox="1"/>
          <p:nvPr/>
        </p:nvSpPr>
        <p:spPr>
          <a:xfrm>
            <a:off x="335683" y="8442255"/>
            <a:ext cx="1762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dirty="0"/>
              <a:t>-0.10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A913AF97-AAAF-4D75-B553-4413E80B7781}"/>
              </a:ext>
            </a:extLst>
          </p:cNvPr>
          <p:cNvSpPr txBox="1"/>
          <p:nvPr/>
        </p:nvSpPr>
        <p:spPr>
          <a:xfrm>
            <a:off x="223263" y="8869312"/>
            <a:ext cx="19543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/>
              <a:t>Gigante superaría a Alsea</a:t>
            </a:r>
          </a:p>
        </p:txBody>
      </p:sp>
      <p:sp>
        <p:nvSpPr>
          <p:cNvPr id="35" name="Rectángulo: esquinas redondeadas 34" descr="VMT&#10;">
            <a:extLst>
              <a:ext uri="{FF2B5EF4-FFF2-40B4-BE49-F238E27FC236}">
                <a16:creationId xmlns:a16="http://schemas.microsoft.com/office/drawing/2014/main" id="{429828C7-8BE3-4CCE-907B-FDF612B0D283}"/>
              </a:ext>
            </a:extLst>
          </p:cNvPr>
          <p:cNvSpPr/>
          <p:nvPr/>
        </p:nvSpPr>
        <p:spPr>
          <a:xfrm>
            <a:off x="223827" y="5503309"/>
            <a:ext cx="1920948" cy="101235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9DAB01BD-7C73-462B-9365-A898B88D724E}"/>
              </a:ext>
            </a:extLst>
          </p:cNvPr>
          <p:cNvSpPr txBox="1"/>
          <p:nvPr/>
        </p:nvSpPr>
        <p:spPr>
          <a:xfrm>
            <a:off x="223263" y="5519110"/>
            <a:ext cx="19209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VMT Proyectado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8BA27B22-01E1-4F1F-9F21-D7DBF08052FC}"/>
              </a:ext>
            </a:extLst>
          </p:cNvPr>
          <p:cNvSpPr txBox="1"/>
          <p:nvPr/>
        </p:nvSpPr>
        <p:spPr>
          <a:xfrm>
            <a:off x="317520" y="5778654"/>
            <a:ext cx="1732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dirty="0"/>
              <a:t>4.20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FC903FB-848F-4F63-A9C1-906E2FAEEB2A}"/>
              </a:ext>
            </a:extLst>
          </p:cNvPr>
          <p:cNvSpPr txBox="1"/>
          <p:nvPr/>
        </p:nvSpPr>
        <p:spPr>
          <a:xfrm>
            <a:off x="223263" y="6196864"/>
            <a:ext cx="19209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dirty="0"/>
              <a:t>% con estrategia activa</a:t>
            </a:r>
          </a:p>
        </p:txBody>
      </p:sp>
      <p:pic>
        <p:nvPicPr>
          <p:cNvPr id="40" name="Imagen 39">
            <a:extLst>
              <a:ext uri="{FF2B5EF4-FFF2-40B4-BE49-F238E27FC236}">
                <a16:creationId xmlns:a16="http://schemas.microsoft.com/office/drawing/2014/main" id="{8B07BBFA-6006-4E67-9311-353804201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6560" y="5407364"/>
            <a:ext cx="7532920" cy="2441822"/>
          </a:xfrm>
          <a:prstGeom prst="rect">
            <a:avLst/>
          </a:prstGeom>
        </p:spPr>
      </p:pic>
      <p:sp>
        <p:nvSpPr>
          <p:cNvPr id="43" name="CuadroTexto 42">
            <a:extLst>
              <a:ext uri="{FF2B5EF4-FFF2-40B4-BE49-F238E27FC236}">
                <a16:creationId xmlns:a16="http://schemas.microsoft.com/office/drawing/2014/main" id="{7E909843-1E67-4FF9-885B-F6823306889C}"/>
              </a:ext>
            </a:extLst>
          </p:cNvPr>
          <p:cNvSpPr txBox="1"/>
          <p:nvPr/>
        </p:nvSpPr>
        <p:spPr>
          <a:xfrm>
            <a:off x="0" y="4784164"/>
            <a:ext cx="1028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latin typeface="Bahnschrift SemiBold" panose="020B0502040204020203" pitchFamily="34" charset="0"/>
              </a:rPr>
              <a:t>La Oportunidad Mundialista 2026 para Gigante - Proyección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CC361707-22AF-49AC-BE1B-8B80AFADFAD6}"/>
              </a:ext>
            </a:extLst>
          </p:cNvPr>
          <p:cNvSpPr txBox="1"/>
          <p:nvPr/>
        </p:nvSpPr>
        <p:spPr>
          <a:xfrm>
            <a:off x="2528685" y="8038431"/>
            <a:ext cx="7348669" cy="1477328"/>
          </a:xfrm>
          <a:prstGeom prst="rect">
            <a:avLst/>
          </a:prstGeom>
          <a:noFill/>
          <a:ln w="57150">
            <a:solidFill>
              <a:srgbClr val="EAC2DD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s-ES" dirty="0"/>
              <a:t>Con el Mundial 2026 en México (CDMX, Guadalajara, Monterrey), un evento clasificado como impacto Muy Alto. Gigante Restaurantes podría proyectar un VMT de 4.20%  cerrando completamente el GAP de 240 BPS e incluso superando a Alsea por 10 BPS. </a:t>
            </a:r>
            <a:r>
              <a:rPr lang="es-ES" b="1" dirty="0"/>
              <a:t>La condición: implementar hoy una estrategia digital y de lealtad comparable.</a:t>
            </a:r>
            <a:endParaRPr lang="es-MX" b="1" dirty="0"/>
          </a:p>
        </p:txBody>
      </p:sp>
      <p:pic>
        <p:nvPicPr>
          <p:cNvPr id="1032" name="Picture 8" descr="Power BI Logo and symbol, meaning, history, PNG, brand">
            <a:extLst>
              <a:ext uri="{FF2B5EF4-FFF2-40B4-BE49-F238E27FC236}">
                <a16:creationId xmlns:a16="http://schemas.microsoft.com/office/drawing/2014/main" id="{C762977E-3CAF-471C-8534-85360F8DCA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06" r="24070"/>
          <a:stretch/>
        </p:blipFill>
        <p:spPr bwMode="auto">
          <a:xfrm>
            <a:off x="9494089" y="9675785"/>
            <a:ext cx="393701" cy="491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Triggers, stored procedure, transacciones y concurrencias en SQL –  Medievals Trucos">
            <a:extLst>
              <a:ext uri="{FF2B5EF4-FFF2-40B4-BE49-F238E27FC236}">
                <a16:creationId xmlns:a16="http://schemas.microsoft.com/office/drawing/2014/main" id="{70CE93AF-2767-4A46-9183-A19593EBAF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5" r="28803"/>
          <a:stretch/>
        </p:blipFill>
        <p:spPr bwMode="auto">
          <a:xfrm>
            <a:off x="9046485" y="9690804"/>
            <a:ext cx="393701" cy="479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CuadroTexto 57">
            <a:extLst>
              <a:ext uri="{FF2B5EF4-FFF2-40B4-BE49-F238E27FC236}">
                <a16:creationId xmlns:a16="http://schemas.microsoft.com/office/drawing/2014/main" id="{6E2C1139-930A-48C2-950D-EA0D5CBCD654}"/>
              </a:ext>
            </a:extLst>
          </p:cNvPr>
          <p:cNvSpPr txBox="1"/>
          <p:nvPr/>
        </p:nvSpPr>
        <p:spPr>
          <a:xfrm>
            <a:off x="253872" y="9258713"/>
            <a:ext cx="8225847" cy="872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dirty="0">
                <a:latin typeface="Franklin Gothic Book" panose="020B0503020102020204" pitchFamily="34" charset="0"/>
              </a:rPr>
              <a:t>Luis Alberto </a:t>
            </a:r>
          </a:p>
          <a:p>
            <a:pPr>
              <a:lnSpc>
                <a:spcPct val="150000"/>
              </a:lnSpc>
            </a:pPr>
            <a:r>
              <a:rPr lang="es-MX" dirty="0">
                <a:latin typeface="Franklin Gothic Book" panose="020B0503020102020204" pitchFamily="34" charset="0"/>
              </a:rPr>
              <a:t>Data Analyst | Restaurantes &amp; Food Service	   Excel | PostgreSQL | Power BI</a:t>
            </a:r>
          </a:p>
        </p:txBody>
      </p:sp>
      <p:pic>
        <p:nvPicPr>
          <p:cNvPr id="1046" name="Picture 22" descr="Icône Microsoft Excel PNG , Microsoft, Azuré, Mot PNG et vecteur pour  téléchargement gratuit">
            <a:extLst>
              <a:ext uri="{FF2B5EF4-FFF2-40B4-BE49-F238E27FC236}">
                <a16:creationId xmlns:a16="http://schemas.microsoft.com/office/drawing/2014/main" id="{D110A332-8FDC-4EDC-B5AC-FC26FFCC1C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9720" y="9675785"/>
            <a:ext cx="538055" cy="538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0657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1143</TotalTime>
  <Words>195</Words>
  <Application>Microsoft Office PowerPoint</Application>
  <PresentationFormat>Personalizado</PresentationFormat>
  <Paragraphs>28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8" baseType="lpstr">
      <vt:lpstr>Arial</vt:lpstr>
      <vt:lpstr>Bahnschrift SemiBold</vt:lpstr>
      <vt:lpstr>Calibri</vt:lpstr>
      <vt:lpstr>Calibri Light</vt:lpstr>
      <vt:lpstr>Franklin Gothic Book</vt:lpstr>
      <vt:lpstr>Wingdings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Alberto L.A.B.B</dc:creator>
  <cp:lastModifiedBy>Alberto L.A.B.B</cp:lastModifiedBy>
  <cp:revision>14</cp:revision>
  <dcterms:created xsi:type="dcterms:W3CDTF">2026-03-22T00:56:55Z</dcterms:created>
  <dcterms:modified xsi:type="dcterms:W3CDTF">2026-03-22T20:00:18Z</dcterms:modified>
</cp:coreProperties>
</file>